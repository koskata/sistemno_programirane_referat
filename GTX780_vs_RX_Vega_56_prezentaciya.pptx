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9036349d-17fc-96e4-8e6f-7e6a44b3a44e}">
          <p14:sldIdLst>
            <p14:sldId id="256"/>
            <p14:sldId id="257"/>
            <p14:sldId id="258"/>
          </p14:sldIdLst>
        </p14:section>
        <p14:section name="Хардуер" id="{748cac23-90a4-6b29-4600-aadd70b7d6b3}">
          <p14:sldIdLst>
            <p14:sldId id="259"/>
            <p14:sldId id="260"/>
            <p14:sldId id="261"/>
            <p14:sldId id="262"/>
            <p14:sldId id="263"/>
          </p14:sldIdLst>
        </p14:section>
        <p14:section name="Софтуер и производителност" id="{ca5efbf5-3d5d-1cd2-a5d6-6221e1f679a5}">
          <p14:sldIdLst>
            <p14:sldId id="264"/>
            <p14:sldId id="265"/>
            <p14:sldId id="266"/>
          </p14:sldIdLst>
        </p14:section>
        <p14:section name="Цена и поддръжка" id="{df85781e-2285-b7fd-cfb2-684fb58fc8a8}">
          <p14:sldIdLst>
            <p14:sldId id="267"/>
            <p14:sldId id="268"/>
          </p14:sldIdLst>
        </p14:section>
        <p14:section name="Заключение" id="{a60f884c-d803-922e-80b9-8d63f47766b0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Плътност</c:v>
                </c:pt>
              </c:strCache>
            </c:strRef>
          </c:tx>
          <c:spPr>
            <a:solidFill>
              <a:srgbClr val="6CAA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2F4F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AA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20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GTX 780</c:v>
                  </c:pt>
                  <c:pt idx="1">
                    <c:v>RX Vega 56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12.6</c:v>
                </c:pt>
                <c:pt idx="1">
                  <c:v>25.7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300" u="none">
                  <a:solidFill>
                    <a:srgbClr val="F2F4F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A314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8A2B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B24"/>
        </a:solidFill>
        <a:ln>
          <a:noFill/>
        </a:ln>
        <a:effectLst/>
      </c:spPr>
    </c:plotArea>
    <c:plotVisOnly val="1"/>
    <c:dispBlanksAs val="span"/>
  </c:chart>
  <c:spPr>
    <a:solidFill>
      <a:srgbClr val="171B2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FP32</c:v>
                </c:pt>
              </c:strCache>
            </c:strRef>
          </c:tx>
          <c:spPr>
            <a:solidFill>
              <a:srgbClr val="6CAA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2F4F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AA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20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GTX 780</c:v>
                  </c:pt>
                  <c:pt idx="1">
                    <c:v>RX Vega 56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4.15</c:v>
                </c:pt>
                <c:pt idx="1">
                  <c:v>10.54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F2F4F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14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8A2B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B24"/>
        </a:solidFill>
        <a:ln>
          <a:noFill/>
        </a:ln>
        <a:effectLst/>
      </c:spPr>
    </c:plotArea>
    <c:plotVisOnly val="1"/>
    <c:dispBlanksAs val="span"/>
  </c:chart>
  <c:spPr>
    <a:solidFill>
      <a:srgbClr val="171B2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PassMark G3D Mark</c:v>
                </c:pt>
              </c:strCache>
            </c:strRef>
          </c:tx>
          <c:spPr>
            <a:solidFill>
              <a:srgbClr val="6CAA00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2F4F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AA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20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GTX 780</c:v>
                  </c:pt>
                  <c:pt idx="1">
                    <c:v>RX Vega 56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7972</c:v>
                </c:pt>
                <c:pt idx="1">
                  <c:v>12913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1" i="0" strike="noStrike" sz="1300" u="none">
                  <a:solidFill>
                    <a:srgbClr val="F2F4F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14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8A2B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B24"/>
        </a:solidFill>
        <a:ln>
          <a:noFill/>
        </a:ln>
        <a:effectLst/>
      </c:spPr>
    </c:plotArea>
    <c:plotVisOnly val="1"/>
    <c:dispBlanksAs val="span"/>
  </c:chart>
  <c:spPr>
    <a:solidFill>
      <a:srgbClr val="171B2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3DMark Time Spy (DirectX 12)</c:v>
                </c:pt>
              </c:strCache>
            </c:strRef>
          </c:tx>
          <c:spPr>
            <a:solidFill>
              <a:srgbClr val="6CAA00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2F4F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AA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20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GTX 780</c:v>
                  </c:pt>
                  <c:pt idx="1">
                    <c:v>RX Vega 56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2595</c:v>
                </c:pt>
                <c:pt idx="1">
                  <c:v>6344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1" i="0" strike="noStrike" sz="1300" u="none">
                  <a:solidFill>
                    <a:srgbClr val="F2F4F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14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8A2B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4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B24"/>
        </a:solidFill>
        <a:ln>
          <a:noFill/>
        </a:ln>
        <a:effectLst/>
      </c:spPr>
    </c:plotArea>
    <c:plotVisOnly val="1"/>
    <c:dispBlanksAs val="span"/>
  </c:chart>
  <c:spPr>
    <a:solidFill>
      <a:srgbClr val="171B2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GTX 780</c:v>
                </c:pt>
              </c:strCache>
            </c:strRef>
          </c:tx>
          <c:spPr>
            <a:solidFill>
              <a:srgbClr val="6CAA0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2F4F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DirectX 9</c:v>
                  </c:pt>
                  <c:pt idx="1">
                    <c:v>DirectX 10</c:v>
                  </c:pt>
                  <c:pt idx="2">
                    <c:v>DirectX 11</c:v>
                  </c:pt>
                  <c:pt idx="3">
                    <c:v>DirectX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</c:v>
                </c:pt>
                <c:pt idx="1">
                  <c:v>37</c:v>
                </c:pt>
                <c:pt idx="2">
                  <c:v>65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RX Vega 56</c:v>
                </c:pt>
              </c:strCache>
            </c:strRef>
          </c:tx>
          <c:spPr>
            <a:solidFill>
              <a:srgbClr val="E8202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2F4F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DirectX 9</c:v>
                  </c:pt>
                  <c:pt idx="1">
                    <c:v>DirectX 10</c:v>
                  </c:pt>
                  <c:pt idx="2">
                    <c:v>DirectX 11</c:v>
                  </c:pt>
                  <c:pt idx="3">
                    <c:v>DirectX 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79</c:v>
                </c:pt>
                <c:pt idx="2">
                  <c:v>82</c:v>
                </c:pt>
                <c:pt idx="3">
                  <c:v>56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F2F4F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14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8A2B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B2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98A2B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171B2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Точки за 1 $</c:v>
                </c:pt>
              </c:strCache>
            </c:strRef>
          </c:tx>
          <c:spPr>
            <a:solidFill>
              <a:srgbClr val="6CAA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2F4F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AA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AA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20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GTX 780 (649 $)</c:v>
                  </c:pt>
                  <c:pt idx="1">
                    <c:v>GTX 780 (499 $)</c:v>
                  </c:pt>
                  <c:pt idx="2">
                    <c:v>RX Vega 56 (399 $)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12.3</c:v>
                </c:pt>
                <c:pt idx="1">
                  <c:v>16</c:v>
                </c:pt>
                <c:pt idx="2">
                  <c:v>32.4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300" u="none">
                  <a:solidFill>
                    <a:srgbClr val="F2F4F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14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8A2B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B24"/>
        </a:solidFill>
        <a:ln>
          <a:noFill/>
        </a:ln>
        <a:effectLst/>
      </c:spPr>
    </c:plotArea>
    <c:plotVisOnly val="1"/>
    <c:dispBlanksAs val="span"/>
  </c:chart>
  <c:spPr>
    <a:solidFill>
      <a:srgbClr val="171B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Добър ден. Казвам се Константин Ганев и ще ви представя сравнение между две графични карти: GeForce GTX 780 на NVIDIA и Radeon RX Vega 56 на AMD. Между тях има четири години разлика. Точно затова сравнението е интересно: можем да видим какво се променя за едно поколение в архитектурата, паметта и енергийната ефективност и колко от това се усеща в реалната производителност.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Първо накратко за двете карти. GTX 780 излиза през май 2013 г. и тогава е втората най-силна карта на NVIDIA след GTX Titan. Струва 649 долара. Vega 56 излиза през август 2017 г. като по-достъпната версия на Vega 64, на цена 399 долара, и е насочена срещу GTX 1070.
Има една интересна прилика: и двете са „орязани“ версии на най-големия чип на производителя си. GTX 780 използва чипа GK110 с част от блоковете изключени, а Vega 56 използва чипа Vega 10, пак с изключени блокове. Така на практика сравняваме и двата флагмански чипа.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Критериите ги избрах сам и ги подредих от вътрешността на чипа навън. Започвам с архитектурата и технологичния процес, минавам през изчислителните ресурси, паметта и консумацията, после програмния модел, а накрая реалните тестове, цената и поддръжката. Така всеки следващ извод стъпва на предишния.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 започнем с устройството на чипа. При Kepler основният блок се казва SMX и съдържа 192 CUDA ядра. Пълният GK110 има 15 такива блока, а в GTX 780 работят 12. Виждате ги в зелено, а празните квадратчета са изключените. Дванадесет по 192 прави 2304 ядра.
При Vega блокът се казва NCU и има 64 поточни процесора. От 64 блока във Vega 56 работят 56, оттам идва и името. Това прави 3584 процесора.
Вижда се и разликата във философията: NVIDIA има малко, но големи блокове, а AMD много малки. За програмиста има още една разлика. NVIDIA изпълнява нишките на групи по 32, наречени warp, а AMD на групи по 64, наречени wavefront. Ще се върна към това при програмния модел.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Тук е най-голямата технологична разлика. GTX 780 е произведена по 28-нанометров планарен процес на TSMC, а Vega по 14-нанометров FinFET процес на GlobalFoundries. При FinFET каналът на транзистора е триизмерен и затворът го обхваща от три страни, затова утечките са по-малки.
Резултатът е, че Vega 10 има 12,5 милиарда транзистора на по-малка площ, отколкото GK110 със своите 7 милиарда. Плътността е почти точно двойна. Снимките горе са истински снимки на кристалите, в приблизително реален мащаб един спрямо друг.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Теоретичната мощ се смята лесно: брой единици по 2 по честотата. Двойката идва от инструкцията FMA, която прави умножение и събиране наведнъж и се брои за две операции. За GTX 780 това са 4,15 терафлопса, за Vega 56 са 10,5. Тоест на хартия Vega е два и половина пъти по-мощна.
Предимството идва от две места: 55% повече единици и много по-висока честота, 1471 срещу 900 мегахерца. Освен това Vega смята с половинна точност два пъти по-бързо, а Kepler няма такова ускорение.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Паметта е може би най-интересната разлика. Вляво е платката на GTX 780: в средата е графичният процесор, а около него 12 чипа GDDR5 с обща 384-битова шина. Вдясно е Vega 10: двата правоъгълника отдолу са стековете HBM2, поставени непосредствено до чипа върху силициев интерпозер. Шината тук е 2048 бита.
HBM2 работи почти четири пъти по-бавно на извод, но шината е пет пъти по-широка, затова в крайна сметка пренася с 42% повече данни в секунда. А днес още по-важен е обемът: 3 гигабайта срещу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GTX 780 е обявена с 250 вата, а Vega 56 с 210. Тук има уговорка: двете фирми не мерят по един и същ начин, AMD дава консумацията на цялата платка. Но дори ориентировъчно разликата е ясна. Vega дава около три пъти повече изчисления на ват на теория и около 1,9 пъти в реален тест. Това е пряк ефект от прехода към 14 нанометра.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нашата дисциплина това е може би най-важният слайд. И двете карти работят с DirectX 12, но GTX 780 е на ниво 11_0, тоест без част от новите възможности, а Vega е на 12_1. Vega има и хардуерни блокове за асинхронни изчисления, така че графика и изчисления могат да вървят едновременно. Kepler не може да прави това ефективно.
За изчисления с общо предназначение GTX 780 използва CUDA, но Kepler е премахнат от CUDA 12 през 2022 г., така че за нея остава CUDA 11. Vega се програмира с OpenCL или с HIP.
Вдясно е стартирането на едно и също ядро в двата модела и виждате, че е почти еднакво. Разликата е в размера на групата: при NVIDIA блокът е добре да е кратен на 32, при AMD на 64. Блок от 256 нишки е удобен и за двете.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Сега реалните тестове. В PassMark има резултати от хиляди реални компютри, около 9000 за GTX 780 и почти 4000 за Vega. Там Vega 56 е с 62% по-бърза. В 3DMark Time Spy, който е тест за DirectX 12, разликата е почти два и половина пъти. Тоест реалното предимство е по-малко от теоретичното и зависи много от теста.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Тук се вижда защо. PassMark има отделни сцени за различните версии на DirectX. При DirectX 11 разликата е само 26%. Това е API-то, за което е проектиран Kepler, и драйверите на NVIDIA за него са много добре оптимизирани. При DirectX 12 Vega вече е с 87% по-бърза.
Интересно е и долното каре вдясно. Ако разделим точките на теоретичните терафлопси, GTX 780 изкарва повече от всеки терафлопс. Значи Kepler използва мощта си по-пълно, а GCN разгръща потенциала си главно при DirectX 12, Vulkan и изчисления.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GTX 780 излиза на 649 долара и пет месеца по-късно, след като AMD пуска R9 290X, поевтинява до 499. Vega 56 излиза на 399. Ако разделим точките в PassMark на цената, Vega дава 2,6 пъти повече за всеки долар. Уговорката е, че през 2017 и 2018 г. реалните цени на Vega бяха по-високи заради копачите на криптовалути.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как стоят нещата днес? За GTX 780 NVIDIA спира новите драйвери през 2021 г., през 2022 г. Kepler отпада от CUDA, а от септември 2024 г. няма и поправки за сигурност. Vega следва същия път с няколко години закъснение: през 2023 г. минава на отделен клон драйвери без оптимизации, а през май 2026 г. официално става legacy. И двете карти са в края на жизнения си цикъл, но Vega все още получава поправки.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Ако обобщим по показателите, Vega 56 печели в осем от девет. GTX 780 има предимство само в едно: по-пълното използване на мощта си в по-старите API. Това обаче не компенсира два и половина пъти по-ниската изчислителна мощ и почти три пъти по-малката памет.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Накратко, четири извода. Първо, технологичният процес решава: от него идват плътността, честотата и ефективността. Второ, теорията не е практика: два и половина пъти на хартия, между 1,3 и 2,4 пъти в тестовете. Трето, паметта остарява първа: 3 гигабайта са най-голямото ограничение на GTX 780 днес. И четвърто, днес и двете карти са история. За нова система не бих препоръчал нито една, но Vega 56 все още става за по-стари игри на 1080p и за учебни задачи с OpenCL и Vulkan.
Общият победител е Radeon RX Vega 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Източниците, които използвах, са изброени вляво, а подробностите са в обяснителната записка. Благодаря за вниманието. Ако имате въпроси, ще се радвам да отговоря.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37360" y="1691640"/>
            <a:ext cx="8714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GeForce GTX 780  vs  Radeon RX Vega 56  ·  Системно програмиране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001000" y="210312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0" y="1097280"/>
            <a:ext cx="7799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chemeClr val="bg2"/>
                </a:solidFill>
              </a:rPr>
              <a:t>РЕФЕРАТ  ·  СИСТЕМНО ПРОГРАМИРАНЕ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737360" y="1691640"/>
            <a:ext cx="8714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GeForce GTX 780</a:t>
            </a:r>
            <a:endParaRPr lang="en-US" sz="48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срещу</a:t>
            </a:r>
            <a:endParaRPr lang="en-US" sz="4800" dirty="0"/>
          </a:p>
          <a:p>
            <a:pPr algn="ctr" indent="0" marL="0">
              <a:buNone/>
            </a:pPr>
            <a:r>
              <a:rPr lang="en-US" sz="5000" b="1" dirty="0">
                <a:solidFill>
                  <a:schemeClr val="accent2"/>
                </a:solidFill>
              </a:rPr>
              <a:t>Radeon RX Vega 56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572000"/>
            <a:ext cx="7799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Сравнителен анализ на спецификациите на две графични карти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Изготвил: Константин Христианов Ганев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ФН 243020  ·  III курс КСТ, задочно обучение  ·  група 25Р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68312" y="57607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Русенски университет „Ангел Кънчев“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зимен семестър 2026/2027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ВЪВЕДЕНИЕ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Две карти, четири години разлика</a:t>
            </a:r>
            <a:endParaRPr lang="en-US" sz="3200" dirty="0"/>
          </a:p>
        </p:txBody>
      </p:sp>
      <p:sp>
        <p:nvSpPr>
          <p:cNvPr id="4" name="card GeForce GTX 780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photo GeForce GTX 780" descr="/private/tmp/claude-501/-Users-kg/e3cf38d0-4e4b-434b-b228-f93e69fecd55/scratchpad/img/out/gk110_ang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4663440" cy="1325880"/>
          </a:xfrm>
          <a:prstGeom prst="rect">
            <a:avLst/>
          </a:prstGeom>
        </p:spPr>
      </p:pic>
      <p:sp>
        <p:nvSpPr>
          <p:cNvPr id="6" name="chip NVIDIA"/>
          <p:cNvSpPr/>
          <p:nvPr/>
        </p:nvSpPr>
        <p:spPr>
          <a:xfrm>
            <a:off x="777240" y="3310128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3101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NVIDIA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393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GeForce GTX 780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160520"/>
          <a:ext cx="46634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971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Излиза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май 2013 г.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Архитектура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Kepler, чип GK110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Процес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28 nm, TSMC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Цена при излизане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649 $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Позиция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висок клас, под GTX Titan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card Radeon RX Vega 56"/>
          <p:cNvSpPr/>
          <p:nvPr/>
        </p:nvSpPr>
        <p:spPr>
          <a:xfrm>
            <a:off x="6519672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1" name="photo Radeon RX Vega 56" descr="/private/tmp/claude-501/-Users-kg/e3cf38d0-4e4b-434b-b228-f93e69fecd55/scratchpad/img/out/vega_pkg_re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48272" y="1828800"/>
            <a:ext cx="4663440" cy="1325880"/>
          </a:xfrm>
          <a:prstGeom prst="rect">
            <a:avLst/>
          </a:prstGeom>
        </p:spPr>
      </p:pic>
      <p:sp>
        <p:nvSpPr>
          <p:cNvPr id="12" name="chip AMD"/>
          <p:cNvSpPr/>
          <p:nvPr/>
        </p:nvSpPr>
        <p:spPr>
          <a:xfrm>
            <a:off x="6748272" y="3310128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748272" y="33101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AMD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748272" y="36393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Radeon RX Vega 56</a:t>
            </a:r>
            <a:endParaRPr lang="en-US" sz="24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160520"/>
          <a:ext cx="46634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9718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Излиза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август 2017 г.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Архитектура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GCN 5, чип Vega 10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Процес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14 nm FinFET, GlobalFoundries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Цена при излизане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399 $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Позиция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срещу GeForce GTX 1070</a:t>
                      </a:r>
                      <a:endParaRPr lang="en-US" sz="14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" name="vs badge"/>
          <p:cNvSpPr/>
          <p:nvPr/>
        </p:nvSpPr>
        <p:spPr>
          <a:xfrm>
            <a:off x="5687568" y="3291840"/>
            <a:ext cx="822960" cy="8229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687568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916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И двете карти са „орязани“ версии на най-големия графичен чип на производителя си.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ВЪВЕДЕНИЕ  ·  МЕТОДИКА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По какво ги сравняваме</a:t>
            </a:r>
            <a:endParaRPr lang="en-US" sz="3200" dirty="0"/>
          </a:p>
        </p:txBody>
      </p:sp>
      <p:sp>
        <p:nvSpPr>
          <p:cNvPr id="4" name="criterion 1"/>
          <p:cNvSpPr/>
          <p:nvPr/>
        </p:nvSpPr>
        <p:spPr>
          <a:xfrm>
            <a:off x="548640" y="1600200"/>
            <a:ext cx="2567178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 LuLayers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95352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7138" y="1847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41448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Архитектура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26664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Как са организирани изчислителните блокове</a:t>
            </a:r>
            <a:endParaRPr lang="en-US" sz="1300" dirty="0"/>
          </a:p>
        </p:txBody>
      </p:sp>
      <p:sp>
        <p:nvSpPr>
          <p:cNvPr id="10" name="criterion 2"/>
          <p:cNvSpPr/>
          <p:nvPr/>
        </p:nvSpPr>
        <p:spPr>
          <a:xfrm>
            <a:off x="3390138" y="1600200"/>
            <a:ext cx="2567178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icon LuMicrochip"/>
          <p:cNvSpPr/>
          <p:nvPr/>
        </p:nvSpPr>
        <p:spPr>
          <a:xfrm>
            <a:off x="3618738" y="18288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462" y="1953524"/>
            <a:ext cx="317480" cy="31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88636" y="1847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3618738" y="2441448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Технологичен процес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18738" y="3026664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Нанометри, транзистори, площ на кристала</a:t>
            </a:r>
            <a:endParaRPr lang="en-US" sz="1300" dirty="0"/>
          </a:p>
        </p:txBody>
      </p:sp>
      <p:sp>
        <p:nvSpPr>
          <p:cNvPr id="16" name="criterion 3"/>
          <p:cNvSpPr/>
          <p:nvPr/>
        </p:nvSpPr>
        <p:spPr>
          <a:xfrm>
            <a:off x="6231636" y="1600200"/>
            <a:ext cx="2567178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icon LuCpu"/>
          <p:cNvSpPr/>
          <p:nvPr/>
        </p:nvSpPr>
        <p:spPr>
          <a:xfrm>
            <a:off x="6460236" y="18288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960" y="1953524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30134" y="1847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03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460236" y="2441448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Изчислителни ресурси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460236" y="3026664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Шейдърни единици, честоти, TFLOPS</a:t>
            </a:r>
            <a:endParaRPr lang="en-US" sz="1300" dirty="0"/>
          </a:p>
        </p:txBody>
      </p:sp>
      <p:sp>
        <p:nvSpPr>
          <p:cNvPr id="22" name="criterion 4"/>
          <p:cNvSpPr/>
          <p:nvPr/>
        </p:nvSpPr>
        <p:spPr>
          <a:xfrm>
            <a:off x="9073134" y="1600200"/>
            <a:ext cx="2567178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icon LuMemoryStick"/>
          <p:cNvSpPr/>
          <p:nvPr/>
        </p:nvSpPr>
        <p:spPr>
          <a:xfrm>
            <a:off x="9301734" y="18288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6458" y="1953524"/>
            <a:ext cx="317480" cy="317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71632" y="1847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04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9301734" y="2441448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Видеопамет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301734" y="3026664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Тип, обем, шина и пропускателна способност</a:t>
            </a:r>
            <a:endParaRPr lang="en-US" sz="1300" dirty="0"/>
          </a:p>
        </p:txBody>
      </p:sp>
      <p:sp>
        <p:nvSpPr>
          <p:cNvPr id="28" name="criterion 5"/>
          <p:cNvSpPr/>
          <p:nvPr/>
        </p:nvSpPr>
        <p:spPr>
          <a:xfrm>
            <a:off x="548640" y="3886200"/>
            <a:ext cx="2567178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icon LuPlugZap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4239524"/>
            <a:ext cx="317480" cy="3174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247138" y="4133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05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4727448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Енергия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5312664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Консумация и производителност на ват</a:t>
            </a:r>
            <a:endParaRPr lang="en-US" sz="1300" dirty="0"/>
          </a:p>
        </p:txBody>
      </p:sp>
      <p:sp>
        <p:nvSpPr>
          <p:cNvPr id="34" name="criterion 6"/>
          <p:cNvSpPr/>
          <p:nvPr/>
        </p:nvSpPr>
        <p:spPr>
          <a:xfrm>
            <a:off x="3390138" y="3886200"/>
            <a:ext cx="2567178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icon LuCodeXml"/>
          <p:cNvSpPr/>
          <p:nvPr/>
        </p:nvSpPr>
        <p:spPr>
          <a:xfrm>
            <a:off x="3618738" y="41148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462" y="4239524"/>
            <a:ext cx="317480" cy="3174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088636" y="4133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06</a:t>
            </a:r>
            <a:endParaRPr lang="en-US" sz="2400" dirty="0"/>
          </a:p>
        </p:txBody>
      </p:sp>
      <p:sp>
        <p:nvSpPr>
          <p:cNvPr id="38" name="Text 30"/>
          <p:cNvSpPr txBox="1"/>
          <p:nvPr/>
        </p:nvSpPr>
        <p:spPr>
          <a:xfrm>
            <a:off x="3618738" y="4727448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 и програмен модел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3618738" y="5312664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DirectX, Vulkan, CUDA, ROCm</a:t>
            </a:r>
            <a:endParaRPr lang="en-US" sz="1300" dirty="0"/>
          </a:p>
        </p:txBody>
      </p:sp>
      <p:sp>
        <p:nvSpPr>
          <p:cNvPr id="40" name="criterion 7"/>
          <p:cNvSpPr/>
          <p:nvPr/>
        </p:nvSpPr>
        <p:spPr>
          <a:xfrm>
            <a:off x="6231636" y="3886200"/>
            <a:ext cx="2567178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icon LuGauge"/>
          <p:cNvSpPr/>
          <p:nvPr/>
        </p:nvSpPr>
        <p:spPr>
          <a:xfrm>
            <a:off x="6460236" y="41148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4960" y="4239524"/>
            <a:ext cx="317480" cy="31748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930134" y="4133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07</a:t>
            </a:r>
            <a:endParaRPr lang="en-US" sz="2400" dirty="0"/>
          </a:p>
        </p:txBody>
      </p:sp>
      <p:sp>
        <p:nvSpPr>
          <p:cNvPr id="44" name="Text 35"/>
          <p:cNvSpPr txBox="1"/>
          <p:nvPr/>
        </p:nvSpPr>
        <p:spPr>
          <a:xfrm>
            <a:off x="6460236" y="4727448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Производителност</a:t>
            </a:r>
            <a:endParaRPr lang="en-US" sz="1600" dirty="0"/>
          </a:p>
        </p:txBody>
      </p:sp>
      <p:sp>
        <p:nvSpPr>
          <p:cNvPr id="45" name="Text 36"/>
          <p:cNvSpPr txBox="1"/>
          <p:nvPr/>
        </p:nvSpPr>
        <p:spPr>
          <a:xfrm>
            <a:off x="6460236" y="5312664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Синтетични тестове PassMark и 3DMark</a:t>
            </a:r>
            <a:endParaRPr lang="en-US" sz="1300" dirty="0"/>
          </a:p>
        </p:txBody>
      </p:sp>
      <p:sp>
        <p:nvSpPr>
          <p:cNvPr id="46" name="criterion 8"/>
          <p:cNvSpPr/>
          <p:nvPr/>
        </p:nvSpPr>
        <p:spPr>
          <a:xfrm>
            <a:off x="9073134" y="3886200"/>
            <a:ext cx="2567178" cy="205740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7" name="icon LuCalendarClock"/>
          <p:cNvSpPr/>
          <p:nvPr/>
        </p:nvSpPr>
        <p:spPr>
          <a:xfrm>
            <a:off x="9301734" y="41148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6458" y="4239524"/>
            <a:ext cx="317480" cy="31748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771632" y="4133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08</a:t>
            </a:r>
            <a:endParaRPr lang="en-US" sz="2400" dirty="0"/>
          </a:p>
        </p:txBody>
      </p:sp>
      <p:sp>
        <p:nvSpPr>
          <p:cNvPr id="50" name="Text 40"/>
          <p:cNvSpPr txBox="1"/>
          <p:nvPr/>
        </p:nvSpPr>
        <p:spPr>
          <a:xfrm>
            <a:off x="9301734" y="4727448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Цена и поддръжка</a:t>
            </a:r>
            <a:endParaRPr lang="en-US" sz="1600" dirty="0"/>
          </a:p>
        </p:txBody>
      </p:sp>
      <p:sp>
        <p:nvSpPr>
          <p:cNvPr id="51" name="Text 41"/>
          <p:cNvSpPr txBox="1"/>
          <p:nvPr/>
        </p:nvSpPr>
        <p:spPr>
          <a:xfrm>
            <a:off x="9301734" y="5312664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Стойност при излизане и драйвери днес</a:t>
            </a:r>
            <a:endParaRPr lang="en-US" sz="1300" dirty="0"/>
          </a:p>
        </p:txBody>
      </p:sp>
      <p:sp>
        <p:nvSpPr>
          <p:cNvPr id="52" name="Text 42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Данните са от официални спецификации и публични бази с резултати. Пълният списък с източници е в края.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1 / 8  ·  АРХИТЕКТУРА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Kepler срещу GCN 5: устройство на чипа</a:t>
            </a:r>
            <a:endParaRPr lang="en-US" sz="3200" dirty="0"/>
          </a:p>
        </p:txBody>
      </p:sp>
      <p:sp>
        <p:nvSpPr>
          <p:cNvPr id="4" name="panel GTX 780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202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chip GTX 780"/>
          <p:cNvSpPr/>
          <p:nvPr/>
        </p:nvSpPr>
        <p:spPr>
          <a:xfrm>
            <a:off x="822960" y="182880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GTX 780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Чип GK110: 15 блока SMX, активни 12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9344" y="2743200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09344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743200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8600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62656" y="2743200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62656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9312" y="2743200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39312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2743200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15968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09344" y="3419856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609344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3419856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286000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62656" y="3419856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62656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39312" y="3419856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39312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15968" y="3419856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15968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09344" y="4096512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609344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0" y="4096512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28600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192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62656" y="4096512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639312" y="4096512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315968" y="4096512"/>
            <a:ext cx="566928" cy="566928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822960" y="4773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активен блок    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□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изключен блок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120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12 × 192 =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2304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 CUDA ядра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5577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Нишките се изпълняват на групи по 32 (warp)</a:t>
            </a:r>
            <a:endParaRPr lang="en-US" sz="1400" dirty="0"/>
          </a:p>
        </p:txBody>
      </p:sp>
      <p:sp>
        <p:nvSpPr>
          <p:cNvPr id="38" name="panel RX VEGA 56"/>
          <p:cNvSpPr/>
          <p:nvPr/>
        </p:nvSpPr>
        <p:spPr>
          <a:xfrm>
            <a:off x="6245352" y="1600200"/>
            <a:ext cx="5394960" cy="4526280"/>
          </a:xfrm>
          <a:prstGeom prst="roundRect">
            <a:avLst>
              <a:gd name="adj" fmla="val 202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chip RX VEGA 56"/>
          <p:cNvSpPr/>
          <p:nvPr/>
        </p:nvSpPr>
        <p:spPr>
          <a:xfrm>
            <a:off x="6519672" y="182880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19672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RX VEGA 56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19672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Чип Vega 10: 64 блока NCU, активни 56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904988" y="266547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43" name="Shape 41"/>
          <p:cNvSpPr/>
          <p:nvPr/>
        </p:nvSpPr>
        <p:spPr>
          <a:xfrm>
            <a:off x="8170164" y="266547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44" name="Shape 42"/>
          <p:cNvSpPr/>
          <p:nvPr/>
        </p:nvSpPr>
        <p:spPr>
          <a:xfrm>
            <a:off x="8435340" y="266547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45" name="Shape 43"/>
          <p:cNvSpPr/>
          <p:nvPr/>
        </p:nvSpPr>
        <p:spPr>
          <a:xfrm>
            <a:off x="8700516" y="266547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46" name="Shape 44"/>
          <p:cNvSpPr/>
          <p:nvPr/>
        </p:nvSpPr>
        <p:spPr>
          <a:xfrm>
            <a:off x="8965692" y="266547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47" name="Shape 45"/>
          <p:cNvSpPr/>
          <p:nvPr/>
        </p:nvSpPr>
        <p:spPr>
          <a:xfrm>
            <a:off x="9230868" y="266547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48" name="Shape 46"/>
          <p:cNvSpPr/>
          <p:nvPr/>
        </p:nvSpPr>
        <p:spPr>
          <a:xfrm>
            <a:off x="9496044" y="266547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49" name="Shape 47"/>
          <p:cNvSpPr/>
          <p:nvPr/>
        </p:nvSpPr>
        <p:spPr>
          <a:xfrm>
            <a:off x="9761220" y="266547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0" name="Shape 48"/>
          <p:cNvSpPr/>
          <p:nvPr/>
        </p:nvSpPr>
        <p:spPr>
          <a:xfrm>
            <a:off x="7904988" y="293065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1" name="Shape 49"/>
          <p:cNvSpPr/>
          <p:nvPr/>
        </p:nvSpPr>
        <p:spPr>
          <a:xfrm>
            <a:off x="8170164" y="293065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2" name="Shape 50"/>
          <p:cNvSpPr/>
          <p:nvPr/>
        </p:nvSpPr>
        <p:spPr>
          <a:xfrm>
            <a:off x="8435340" y="293065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3" name="Shape 51"/>
          <p:cNvSpPr/>
          <p:nvPr/>
        </p:nvSpPr>
        <p:spPr>
          <a:xfrm>
            <a:off x="8700516" y="293065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4" name="Shape 52"/>
          <p:cNvSpPr/>
          <p:nvPr/>
        </p:nvSpPr>
        <p:spPr>
          <a:xfrm>
            <a:off x="8965692" y="293065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5" name="Shape 53"/>
          <p:cNvSpPr/>
          <p:nvPr/>
        </p:nvSpPr>
        <p:spPr>
          <a:xfrm>
            <a:off x="9230868" y="293065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6" name="Shape 54"/>
          <p:cNvSpPr/>
          <p:nvPr/>
        </p:nvSpPr>
        <p:spPr>
          <a:xfrm>
            <a:off x="9496044" y="293065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7" name="Shape 55"/>
          <p:cNvSpPr/>
          <p:nvPr/>
        </p:nvSpPr>
        <p:spPr>
          <a:xfrm>
            <a:off x="9761220" y="293065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8" name="Shape 56"/>
          <p:cNvSpPr/>
          <p:nvPr/>
        </p:nvSpPr>
        <p:spPr>
          <a:xfrm>
            <a:off x="7904988" y="319582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59" name="Shape 57"/>
          <p:cNvSpPr/>
          <p:nvPr/>
        </p:nvSpPr>
        <p:spPr>
          <a:xfrm>
            <a:off x="8170164" y="319582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0" name="Shape 58"/>
          <p:cNvSpPr/>
          <p:nvPr/>
        </p:nvSpPr>
        <p:spPr>
          <a:xfrm>
            <a:off x="8435340" y="319582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1" name="Shape 59"/>
          <p:cNvSpPr/>
          <p:nvPr/>
        </p:nvSpPr>
        <p:spPr>
          <a:xfrm>
            <a:off x="8700516" y="319582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2" name="Shape 60"/>
          <p:cNvSpPr/>
          <p:nvPr/>
        </p:nvSpPr>
        <p:spPr>
          <a:xfrm>
            <a:off x="8965692" y="319582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3" name="Shape 61"/>
          <p:cNvSpPr/>
          <p:nvPr/>
        </p:nvSpPr>
        <p:spPr>
          <a:xfrm>
            <a:off x="9230868" y="319582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4" name="Shape 62"/>
          <p:cNvSpPr/>
          <p:nvPr/>
        </p:nvSpPr>
        <p:spPr>
          <a:xfrm>
            <a:off x="9496044" y="319582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5" name="Shape 63"/>
          <p:cNvSpPr/>
          <p:nvPr/>
        </p:nvSpPr>
        <p:spPr>
          <a:xfrm>
            <a:off x="9761220" y="319582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6" name="Shape 64"/>
          <p:cNvSpPr/>
          <p:nvPr/>
        </p:nvSpPr>
        <p:spPr>
          <a:xfrm>
            <a:off x="7904988" y="3461004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7" name="Shape 65"/>
          <p:cNvSpPr/>
          <p:nvPr/>
        </p:nvSpPr>
        <p:spPr>
          <a:xfrm>
            <a:off x="8170164" y="3461004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8" name="Shape 66"/>
          <p:cNvSpPr/>
          <p:nvPr/>
        </p:nvSpPr>
        <p:spPr>
          <a:xfrm>
            <a:off x="8435340" y="3461004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69" name="Shape 67"/>
          <p:cNvSpPr/>
          <p:nvPr/>
        </p:nvSpPr>
        <p:spPr>
          <a:xfrm>
            <a:off x="8700516" y="3461004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0" name="Shape 68"/>
          <p:cNvSpPr/>
          <p:nvPr/>
        </p:nvSpPr>
        <p:spPr>
          <a:xfrm>
            <a:off x="8965692" y="3461004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1" name="Shape 69"/>
          <p:cNvSpPr/>
          <p:nvPr/>
        </p:nvSpPr>
        <p:spPr>
          <a:xfrm>
            <a:off x="9230868" y="3461004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2" name="Shape 70"/>
          <p:cNvSpPr/>
          <p:nvPr/>
        </p:nvSpPr>
        <p:spPr>
          <a:xfrm>
            <a:off x="9496044" y="3461004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3" name="Shape 71"/>
          <p:cNvSpPr/>
          <p:nvPr/>
        </p:nvSpPr>
        <p:spPr>
          <a:xfrm>
            <a:off x="9761220" y="3461004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4" name="Shape 72"/>
          <p:cNvSpPr/>
          <p:nvPr/>
        </p:nvSpPr>
        <p:spPr>
          <a:xfrm>
            <a:off x="7904988" y="3726180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5" name="Shape 73"/>
          <p:cNvSpPr/>
          <p:nvPr/>
        </p:nvSpPr>
        <p:spPr>
          <a:xfrm>
            <a:off x="8170164" y="3726180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6" name="Shape 74"/>
          <p:cNvSpPr/>
          <p:nvPr/>
        </p:nvSpPr>
        <p:spPr>
          <a:xfrm>
            <a:off x="8435340" y="3726180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7" name="Shape 75"/>
          <p:cNvSpPr/>
          <p:nvPr/>
        </p:nvSpPr>
        <p:spPr>
          <a:xfrm>
            <a:off x="8700516" y="3726180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8" name="Shape 76"/>
          <p:cNvSpPr/>
          <p:nvPr/>
        </p:nvSpPr>
        <p:spPr>
          <a:xfrm>
            <a:off x="8965692" y="3726180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79" name="Shape 77"/>
          <p:cNvSpPr/>
          <p:nvPr/>
        </p:nvSpPr>
        <p:spPr>
          <a:xfrm>
            <a:off x="9230868" y="3726180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0" name="Shape 78"/>
          <p:cNvSpPr/>
          <p:nvPr/>
        </p:nvSpPr>
        <p:spPr>
          <a:xfrm>
            <a:off x="9496044" y="3726180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1" name="Shape 79"/>
          <p:cNvSpPr/>
          <p:nvPr/>
        </p:nvSpPr>
        <p:spPr>
          <a:xfrm>
            <a:off x="9761220" y="3726180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2" name="Shape 80"/>
          <p:cNvSpPr/>
          <p:nvPr/>
        </p:nvSpPr>
        <p:spPr>
          <a:xfrm>
            <a:off x="7904988" y="399135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3" name="Shape 81"/>
          <p:cNvSpPr/>
          <p:nvPr/>
        </p:nvSpPr>
        <p:spPr>
          <a:xfrm>
            <a:off x="8170164" y="399135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4" name="Shape 82"/>
          <p:cNvSpPr/>
          <p:nvPr/>
        </p:nvSpPr>
        <p:spPr>
          <a:xfrm>
            <a:off x="8435340" y="399135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5" name="Shape 83"/>
          <p:cNvSpPr/>
          <p:nvPr/>
        </p:nvSpPr>
        <p:spPr>
          <a:xfrm>
            <a:off x="8700516" y="399135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6" name="Shape 84"/>
          <p:cNvSpPr/>
          <p:nvPr/>
        </p:nvSpPr>
        <p:spPr>
          <a:xfrm>
            <a:off x="8965692" y="399135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7" name="Shape 85"/>
          <p:cNvSpPr/>
          <p:nvPr/>
        </p:nvSpPr>
        <p:spPr>
          <a:xfrm>
            <a:off x="9230868" y="399135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8" name="Shape 86"/>
          <p:cNvSpPr/>
          <p:nvPr/>
        </p:nvSpPr>
        <p:spPr>
          <a:xfrm>
            <a:off x="9496044" y="399135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89" name="Shape 87"/>
          <p:cNvSpPr/>
          <p:nvPr/>
        </p:nvSpPr>
        <p:spPr>
          <a:xfrm>
            <a:off x="9761220" y="3991356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0" name="Shape 88"/>
          <p:cNvSpPr/>
          <p:nvPr/>
        </p:nvSpPr>
        <p:spPr>
          <a:xfrm>
            <a:off x="7904988" y="425653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1" name="Shape 89"/>
          <p:cNvSpPr/>
          <p:nvPr/>
        </p:nvSpPr>
        <p:spPr>
          <a:xfrm>
            <a:off x="8170164" y="425653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2" name="Shape 90"/>
          <p:cNvSpPr/>
          <p:nvPr/>
        </p:nvSpPr>
        <p:spPr>
          <a:xfrm>
            <a:off x="8435340" y="425653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3" name="Shape 91"/>
          <p:cNvSpPr/>
          <p:nvPr/>
        </p:nvSpPr>
        <p:spPr>
          <a:xfrm>
            <a:off x="8700516" y="425653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4" name="Shape 92"/>
          <p:cNvSpPr/>
          <p:nvPr/>
        </p:nvSpPr>
        <p:spPr>
          <a:xfrm>
            <a:off x="8965692" y="425653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5" name="Shape 93"/>
          <p:cNvSpPr/>
          <p:nvPr/>
        </p:nvSpPr>
        <p:spPr>
          <a:xfrm>
            <a:off x="9230868" y="425653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6" name="Shape 94"/>
          <p:cNvSpPr/>
          <p:nvPr/>
        </p:nvSpPr>
        <p:spPr>
          <a:xfrm>
            <a:off x="9496044" y="425653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7" name="Shape 95"/>
          <p:cNvSpPr/>
          <p:nvPr/>
        </p:nvSpPr>
        <p:spPr>
          <a:xfrm>
            <a:off x="9761220" y="4256532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accent2"/>
          </a:solidFill>
          <a:ln/>
        </p:spPr>
      </p:sp>
      <p:sp>
        <p:nvSpPr>
          <p:cNvPr id="98" name="Shape 96"/>
          <p:cNvSpPr/>
          <p:nvPr/>
        </p:nvSpPr>
        <p:spPr>
          <a:xfrm>
            <a:off x="7904988" y="452170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8170164" y="452170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8435340" y="452170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8700516" y="452170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8965692" y="452170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9230868" y="452170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9496044" y="452170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9761220" y="4521708"/>
            <a:ext cx="219456" cy="219456"/>
          </a:xfrm>
          <a:prstGeom prst="roundRect">
            <a:avLst>
              <a:gd name="adj" fmla="val 18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106" name="Text 104"/>
          <p:cNvSpPr txBox="1"/>
          <p:nvPr/>
        </p:nvSpPr>
        <p:spPr>
          <a:xfrm>
            <a:off x="6519672" y="4773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активен блок    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□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изключен блок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519672" y="5120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56 × 64 =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3584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 поточни процесора</a:t>
            </a:r>
            <a:endParaRPr lang="en-US" sz="2200" dirty="0"/>
          </a:p>
        </p:txBody>
      </p:sp>
      <p:sp>
        <p:nvSpPr>
          <p:cNvPr id="108" name="Text 106"/>
          <p:cNvSpPr txBox="1"/>
          <p:nvPr/>
        </p:nvSpPr>
        <p:spPr>
          <a:xfrm>
            <a:off x="6519672" y="5577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Нишките се изпълняват на групи по 64 (wavefront)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2 / 8  ·  ТЕХНОЛОГИЧЕН ПРОЦЕС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28 nm срещу 14 nm FinFET: двойна плътност</a:t>
            </a:r>
            <a:endParaRPr lang="en-US" sz="3200" dirty="0"/>
          </a:p>
        </p:txBody>
      </p:sp>
      <p:pic>
        <p:nvPicPr>
          <p:cNvPr id="4" name="die GK110" descr="/private/tmp/claude-501/-Users-kg/e3cf38d0-4e4b-434b-b228-f93e69fecd55/scratchpad/img/out/die_gk110_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514600" cy="2441448"/>
          </a:xfrm>
          <a:prstGeom prst="rect">
            <a:avLst/>
          </a:prstGeom>
        </p:spPr>
      </p:pic>
      <p:pic>
        <p:nvPicPr>
          <p:cNvPr id="5" name="die Vega 10" descr="/private/tmp/claude-501/-Users-kg/e3cf38d0-4e4b-434b-b228-f93e69fecd55/scratchpad/img/out/die_veg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783080"/>
            <a:ext cx="2697480" cy="2057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474720" y="1645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28 nm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планарни транзистори, TSMC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3474720" y="24871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7,08 млрд.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транзистора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474720" y="332841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561 mm²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площ на кристала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326880" y="1645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14 nm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FinFET, GlobalFoundries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326880" y="24871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12,5 млрд.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транзистора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326880" y="332841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486 mm²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площ на кристала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GK110 от GTX 780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382512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Vega 10 (същият кристал като при Vega 64)</a:t>
            </a:r>
            <a:endParaRPr lang="en-US" sz="1100" dirty="0"/>
          </a:p>
        </p:txBody>
      </p:sp>
      <p:sp>
        <p:nvSpPr>
          <p:cNvPr id="14" name="density card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754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Плътност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млн. транзистора на mm²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5394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×2,0</a:t>
            </a:r>
            <a:endParaRPr lang="en-US" sz="3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566160" y="4663440"/>
          <a:ext cx="79552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3 / 8  ·  ИЗЧИСЛИТЕЛНИ РЕСУРСИ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На хартия Vega 56 е 2,5 пъти по-мощна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Параметър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GTX 780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Шейдърни единици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2304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3584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Текстурни блокове (TMU)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192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224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Растерни блокове (ROP)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48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64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Честота: базова / boost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863 / 900 MHz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1156 / 1471 MHz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FP32 (при boost)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4,15 TFLOPS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10,54 TFLOPS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FP16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без ускорение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21,1 TFLOPS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FP64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0,17 TFLOPS (1/24)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0,66 TFLOPS (1/16)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formula"/>
          <p:cNvSpPr/>
          <p:nvPr/>
        </p:nvSpPr>
        <p:spPr>
          <a:xfrm>
            <a:off x="548640" y="5440680"/>
            <a:ext cx="676656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4406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FP32 = единици × 2 операции (FMA) × честота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GTX 780:  2304 × 2 × 0,9 GHz = 4,15 TFLOPS</a:t>
            </a:r>
            <a:endParaRPr lang="en-US" sz="1400" dirty="0"/>
          </a:p>
        </p:txBody>
      </p:sp>
      <p:sp>
        <p:nvSpPr>
          <p:cNvPr id="7" name="chart card"/>
          <p:cNvSpPr/>
          <p:nvPr/>
        </p:nvSpPr>
        <p:spPr>
          <a:xfrm>
            <a:off x="7616952" y="1645920"/>
            <a:ext cx="4023360" cy="4480560"/>
          </a:xfrm>
          <a:prstGeom prst="roundRect">
            <a:avLst>
              <a:gd name="adj" fmla="val 227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45552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FP32, TFLOPS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×2,5</a:t>
            </a:r>
            <a:endParaRPr lang="en-US" sz="2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772400" y="2286000"/>
          <a:ext cx="37033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4 / 8  ·  ВИДЕОПАМЕТ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GDDR5 срещу HBM2: ширина вместо честота</a:t>
            </a:r>
            <a:endParaRPr lang="en-US" sz="3200" dirty="0"/>
          </a:p>
        </p:txBody>
      </p:sp>
      <p:sp>
        <p:nvSpPr>
          <p:cNvPr id="4" name="memory GTX"/>
          <p:cNvSpPr/>
          <p:nvPr/>
        </p:nvSpPr>
        <p:spPr>
          <a:xfrm>
            <a:off x="548640" y="1600200"/>
            <a:ext cx="5394960" cy="3840480"/>
          </a:xfrm>
          <a:prstGeom prst="roundRect">
            <a:avLst>
              <a:gd name="adj" fmla="val 238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memory Vega"/>
          <p:cNvSpPr/>
          <p:nvPr/>
        </p:nvSpPr>
        <p:spPr>
          <a:xfrm>
            <a:off x="6245352" y="1600200"/>
            <a:ext cx="5394960" cy="3840480"/>
          </a:xfrm>
          <a:prstGeom prst="roundRect">
            <a:avLst>
              <a:gd name="adj" fmla="val 238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PCB GTX 780" descr="/private/tmp/claude-501/-Users-kg/e3cf38d0-4e4b-434b-b228-f93e69fecd55/scratchpad/img/out/pcb_7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4937760" cy="2249424"/>
          </a:xfrm>
          <a:prstGeom prst="rect">
            <a:avLst/>
          </a:prstGeom>
        </p:spPr>
      </p:pic>
      <p:pic>
        <p:nvPicPr>
          <p:cNvPr id="7" name="Vega 10 package" descr="/private/tmp/claude-501/-Users-kg/e3cf38d0-4e4b-434b-b228-f93e69fecd55/scratchpad/img/out/vega_pk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783080"/>
            <a:ext cx="2249424" cy="22494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61120" y="1874520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GPU + 2 стека HBM2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Паметта е върху общ силициев интерпозер, на милиметри от графичния процесор. Всеки стек е 4 GB с 1024-битова шина.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096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Платката на GTX 780: 12 чипа GDDR5 около графичния процесор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73952" y="4096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Корпусът на Vega 10: графичен процесор и два стека HBM2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5262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3 GB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обем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737360" y="45262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384 бита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шина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4526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6,0 Gbps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на извод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45262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288 GB/s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пропускателна сп.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73952" y="45262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8 GB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обем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434072" y="45262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2048 бита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шина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759952" y="4526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1,6 Gbps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на извод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9994392" y="45262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410 GB/s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пропускателна сп.</a:t>
            </a:r>
            <a:endParaRPr lang="en-US" sz="1400" dirty="0"/>
          </a:p>
        </p:txBody>
      </p:sp>
      <p:sp>
        <p:nvSpPr>
          <p:cNvPr id="19" name="memory insight"/>
          <p:cNvSpPr/>
          <p:nvPr/>
        </p:nvSpPr>
        <p:spPr>
          <a:xfrm>
            <a:off x="548640" y="5596128"/>
            <a:ext cx="11091672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77240" y="559612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HBM2 работи почти 4 пъти по-бавно на извод, но шината ѝ е 5,3 пъти по-широка.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Резултат: +42% пропускателна способност и 2,7 пъти повече памет.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5 / 8  ·  ЕНЕРГИЯ И ЕФЕКТИВНОСТ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Три пъти повече изчисления на ват</a:t>
            </a:r>
            <a:endParaRPr lang="en-US" sz="3200" dirty="0"/>
          </a:p>
        </p:txBody>
      </p:sp>
      <p:sp>
        <p:nvSpPr>
          <p:cNvPr id="4" name="power Обявена консумация"/>
          <p:cNvSpPr/>
          <p:nvPr/>
        </p:nvSpPr>
        <p:spPr>
          <a:xfrm>
            <a:off x="548640" y="1645920"/>
            <a:ext cx="3514344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 LuPlug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Обявена консумация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GTX 780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250 W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TDP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305812" y="269748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RX Vega 56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305812" y="297180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210 W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305812" y="365760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TBP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4206240"/>
            <a:ext cx="2965704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4206240"/>
            <a:ext cx="2599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−16%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по-малко за Vega 56</a:t>
            </a:r>
            <a:endParaRPr lang="en-US" sz="1400" dirty="0"/>
          </a:p>
        </p:txBody>
      </p:sp>
      <p:sp>
        <p:nvSpPr>
          <p:cNvPr id="16" name="power Теоретична ефективност"/>
          <p:cNvSpPr/>
          <p:nvPr/>
        </p:nvSpPr>
        <p:spPr>
          <a:xfrm>
            <a:off x="4337304" y="1645920"/>
            <a:ext cx="3514344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icon LuZap"/>
          <p:cNvSpPr/>
          <p:nvPr/>
        </p:nvSpPr>
        <p:spPr>
          <a:xfrm>
            <a:off x="4611624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325" y="199522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297424" y="187452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Теоретична ефективност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611624" y="269748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GTX 780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611624" y="297180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16,6</a:t>
            </a:r>
            <a:endParaRPr lang="en-US" sz="3200" dirty="0"/>
          </a:p>
        </p:txBody>
      </p:sp>
      <p:sp>
        <p:nvSpPr>
          <p:cNvPr id="22" name="Text 18"/>
          <p:cNvSpPr txBox="1"/>
          <p:nvPr/>
        </p:nvSpPr>
        <p:spPr>
          <a:xfrm>
            <a:off x="4611624" y="365760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GFLOPS/W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094476" y="269748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RX Vega 56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094476" y="297180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50,2</a:t>
            </a:r>
            <a:endParaRPr lang="en-US" sz="3200" dirty="0"/>
          </a:p>
        </p:txBody>
      </p:sp>
      <p:sp>
        <p:nvSpPr>
          <p:cNvPr id="25" name="Text 21"/>
          <p:cNvSpPr txBox="1"/>
          <p:nvPr/>
        </p:nvSpPr>
        <p:spPr>
          <a:xfrm>
            <a:off x="6094476" y="365760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GFLOPS/W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611624" y="4206240"/>
            <a:ext cx="2965704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794504" y="4206240"/>
            <a:ext cx="2599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×3,0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в полза на Vega 56</a:t>
            </a:r>
            <a:endParaRPr lang="en-US" sz="1400" dirty="0"/>
          </a:p>
        </p:txBody>
      </p:sp>
      <p:sp>
        <p:nvSpPr>
          <p:cNvPr id="28" name="power Ефективност в PassMark"/>
          <p:cNvSpPr/>
          <p:nvPr/>
        </p:nvSpPr>
        <p:spPr>
          <a:xfrm>
            <a:off x="8125968" y="1645920"/>
            <a:ext cx="3514344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icon LuGauge"/>
          <p:cNvSpPr/>
          <p:nvPr/>
        </p:nvSpPr>
        <p:spPr>
          <a:xfrm>
            <a:off x="8400288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989" y="1995221"/>
            <a:ext cx="307238" cy="30723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86088" y="1874520"/>
            <a:ext cx="2325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Ефективност в PassMark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8400288" y="269748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GTX 780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8400288" y="297180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32</a:t>
            </a:r>
            <a:endParaRPr lang="en-US" sz="3200" dirty="0"/>
          </a:p>
        </p:txBody>
      </p:sp>
      <p:sp>
        <p:nvSpPr>
          <p:cNvPr id="34" name="Text 29"/>
          <p:cNvSpPr txBox="1"/>
          <p:nvPr/>
        </p:nvSpPr>
        <p:spPr>
          <a:xfrm>
            <a:off x="8400288" y="365760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точки/W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9883140" y="269748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RX Vega 56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9883140" y="297180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61</a:t>
            </a:r>
            <a:endParaRPr lang="en-US" sz="3200" dirty="0"/>
          </a:p>
        </p:txBody>
      </p:sp>
      <p:sp>
        <p:nvSpPr>
          <p:cNvPr id="37" name="Text 32"/>
          <p:cNvSpPr txBox="1"/>
          <p:nvPr/>
        </p:nvSpPr>
        <p:spPr>
          <a:xfrm>
            <a:off x="9883140" y="3657600"/>
            <a:ext cx="14828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точки/W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8400288" y="4206240"/>
            <a:ext cx="2965704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583168" y="4206240"/>
            <a:ext cx="2599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×1,9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в полза на Vega 56</a:t>
            </a:r>
            <a:endParaRPr lang="en-US" sz="1400" dirty="0"/>
          </a:p>
        </p:txBody>
      </p:sp>
      <p:sp>
        <p:nvSpPr>
          <p:cNvPr id="40" name="icon LuPlugZap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31" y="5388011"/>
            <a:ext cx="215067" cy="215067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069848" y="53035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Допълнително захранване: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6-pin + 8-pin при GTX 780,  2 × 8-pin при RX Vega 56</a:t>
            </a:r>
            <a:endParaRPr lang="en-US" sz="1400" dirty="0"/>
          </a:p>
        </p:txBody>
      </p:sp>
      <p:sp>
        <p:nvSpPr>
          <p:cNvPr id="43" name="icon LuInfo"/>
          <p:cNvSpPr/>
          <p:nvPr/>
        </p:nvSpPr>
        <p:spPr>
          <a:xfrm>
            <a:off x="548640" y="577900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5863499"/>
            <a:ext cx="215067" cy="215067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069848" y="57790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NVIDIA посочва TDP, а AMD – консумацията на цялата платка (TBP). Методиките не са еднакви, затова сравнението е ориентировъчно.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6 / 8  ·  API И ПРОГРАМЕН МОДЕЛ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Какво получава програмистът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1722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828800"/>
                <a:gridCol w="21031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Възможност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GTX 780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DirectX 12, ниво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11_0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12_1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Vulkan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1.2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1.3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OpenGL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4.6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4.6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OpenCL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3.0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2.0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Платформа за GPGPU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CUDA, CC 3.5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ROCm / HIP, gfx900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Група нишки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warp, 32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wavefront, 64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Async compute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не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да (блокове ACE)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Ускорено FP16 (×2)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не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да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code card"/>
          <p:cNvSpPr/>
          <p:nvPr/>
        </p:nvSpPr>
        <p:spPr>
          <a:xfrm>
            <a:off x="6995160" y="1645920"/>
            <a:ext cx="4645152" cy="3867912"/>
          </a:xfrm>
          <a:prstGeom prst="roundRect">
            <a:avLst>
              <a:gd name="adj" fmla="val 2364"/>
            </a:avLst>
          </a:prstGeom>
          <a:solidFill>
            <a:srgbClr val="0A0C10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810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Стартиране на ядро с 256 нишки в блок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212848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CUDA · GTX 780 (sm_35)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256 = 8 warp-а × 32 нишки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saxpy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&lt;&lt;&lt;blocks, 256&gt;&gt;&gt;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(n, a, x, y);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HIP · RX Vega 56 (gfx900)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256 = 4 wavefront-а × 64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hipLaunchKernelGGL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(saxpy,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blocks, 256, 0, 0, n, a, x, y);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4617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HIP повтаря модела на CUDA почти едно към едно, затова кодът се пренася между двете платформи с минимални промени.</a:t>
            </a:r>
            <a:endParaRPr lang="en-US" sz="1200" dirty="0"/>
          </a:p>
        </p:txBody>
      </p:sp>
      <p:sp>
        <p:nvSpPr>
          <p:cNvPr id="9" name="api note"/>
          <p:cNvSpPr/>
          <p:nvPr/>
        </p:nvSpPr>
        <p:spPr>
          <a:xfrm>
            <a:off x="548640" y="5641848"/>
            <a:ext cx="11091672" cy="521208"/>
          </a:xfrm>
          <a:prstGeom prst="roundRect">
            <a:avLst>
              <a:gd name="adj" fmla="val 17544"/>
            </a:avLst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5641848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Kepler е премахнат от CUDA 12.0 (декември 2022 г.), а Vega 10 (gfx900) вече не е в официалния списък на ROCm.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7 / 8  ·  ПРОИЗВОДИТЕЛНОСТ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В тестовете: от 1,6 до 2,4 пъти по-бърза</a:t>
            </a:r>
            <a:endParaRPr lang="en-US" sz="3200" dirty="0"/>
          </a:p>
        </p:txBody>
      </p:sp>
      <p:sp>
        <p:nvSpPr>
          <p:cNvPr id="4" name="bench PassMark G3D Mark"/>
          <p:cNvSpPr/>
          <p:nvPr/>
        </p:nvSpPr>
        <p:spPr>
          <a:xfrm>
            <a:off x="548640" y="1645920"/>
            <a:ext cx="5394960" cy="3977640"/>
          </a:xfrm>
          <a:prstGeom prst="roundRect">
            <a:avLst>
              <a:gd name="adj" fmla="val 229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PassMark G3D Mark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средно от хиляди потребителски резултата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17720" y="1874520"/>
            <a:ext cx="10515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874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+62%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56032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bench 3DMark Time Spy (DirectX 12)"/>
          <p:cNvSpPr/>
          <p:nvPr/>
        </p:nvSpPr>
        <p:spPr>
          <a:xfrm>
            <a:off x="6245352" y="1645920"/>
            <a:ext cx="5394960" cy="3977640"/>
          </a:xfrm>
          <a:prstGeom prst="roundRect">
            <a:avLst>
              <a:gd name="adj" fmla="val 229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19672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3DMark Time Spy (DirectX 12)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графичен резултат, 2560 × 1440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314432" y="1874520"/>
            <a:ext cx="10515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314432" y="1874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×2,4</a:t>
            </a:r>
            <a:endParaRPr lang="en-US" sz="18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6428232" y="256032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PassMark: 8 900 резултата за GTX 780 и 3 758 за RX Vega 56, данни към 20.10.2026 г.  ·  Time Spy: измервания на ComputerBase (2024 г.)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7 / 8  ·  ПРОИЗВОДИТЕЛНОСТ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Разликата зависи от API-то</a:t>
            </a:r>
            <a:endParaRPr lang="en-US" sz="3200" dirty="0"/>
          </a:p>
        </p:txBody>
      </p:sp>
      <p:sp>
        <p:nvSpPr>
          <p:cNvPr id="4" name="dx chart card"/>
          <p:cNvSpPr/>
          <p:nvPr/>
        </p:nvSpPr>
        <p:spPr>
          <a:xfrm>
            <a:off x="548640" y="164592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Подтестове на PassMark по версия на DirectX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кадри в секунда (FPS), повече е по-добре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514600"/>
          <a:ext cx="66751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insight 1"/>
          <p:cNvSpPr/>
          <p:nvPr/>
        </p:nvSpPr>
        <p:spPr>
          <a:xfrm>
            <a:off x="7772400" y="1645920"/>
            <a:ext cx="38679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7556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+26%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при DirectX 11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2128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Най-малката разлика: това е API-то, за което е проектиран Kepler.</a:t>
            </a:r>
            <a:endParaRPr lang="en-US" sz="1300" dirty="0"/>
          </a:p>
        </p:txBody>
      </p:sp>
      <p:sp>
        <p:nvSpPr>
          <p:cNvPr id="10" name="insight 2"/>
          <p:cNvSpPr/>
          <p:nvPr/>
        </p:nvSpPr>
        <p:spPr>
          <a:xfrm>
            <a:off x="7772400" y="3017520"/>
            <a:ext cx="38679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27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+87%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при DirectX 12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5844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GTX 780 е ограничена от ниво 11_0 и липсата на async compute.</a:t>
            </a:r>
            <a:endParaRPr lang="en-US" sz="1300" dirty="0"/>
          </a:p>
        </p:txBody>
      </p:sp>
      <p:sp>
        <p:nvSpPr>
          <p:cNvPr id="13" name="insight 3"/>
          <p:cNvSpPr/>
          <p:nvPr/>
        </p:nvSpPr>
        <p:spPr>
          <a:xfrm>
            <a:off x="7772400" y="4389120"/>
            <a:ext cx="38679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4988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1922 / 1225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точки/TFLOPS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956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GTX 780 изкарва повече точки PassMark от всеки теоретичен TFLOPS.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Изчислителен подтест (GPU Compute): 3329 срещу 5766 операции/s, т.е. +73% за RX Vega 56.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8 / 8  ·  ЦЕНА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По-евтина и 2,6 пъти по-изгодна</a:t>
            </a:r>
            <a:endParaRPr lang="en-US" sz="3200" dirty="0"/>
          </a:p>
        </p:txBody>
      </p:sp>
      <p:sp>
        <p:nvSpPr>
          <p:cNvPr id="4" name="price GTX 780"/>
          <p:cNvSpPr/>
          <p:nvPr/>
        </p:nvSpPr>
        <p:spPr>
          <a:xfrm>
            <a:off x="548640" y="1645920"/>
            <a:ext cx="4754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chip GTX 780"/>
          <p:cNvSpPr/>
          <p:nvPr/>
        </p:nvSpPr>
        <p:spPr>
          <a:xfrm>
            <a:off x="822960" y="187452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tx1"/>
                </a:solidFill>
              </a:rPr>
              <a:t>GTX 780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препоръчителна цена при излизане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649 $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3317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май 2013 г.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от 29.10.2013 г.: 499 $</a:t>
            </a:r>
            <a:endParaRPr lang="en-US" sz="1400" dirty="0"/>
          </a:p>
        </p:txBody>
      </p:sp>
      <p:sp>
        <p:nvSpPr>
          <p:cNvPr id="10" name="price RX VEGA 56"/>
          <p:cNvSpPr/>
          <p:nvPr/>
        </p:nvSpPr>
        <p:spPr>
          <a:xfrm>
            <a:off x="548640" y="3703320"/>
            <a:ext cx="4754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chip RX VEGA 56"/>
          <p:cNvSpPr/>
          <p:nvPr/>
        </p:nvSpPr>
        <p:spPr>
          <a:xfrm>
            <a:off x="822960" y="393192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931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RX VEGA 56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препоръчителна цена при излизане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399 $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3891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август 2017 г.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срещу GTX 1070 (379 $)</a:t>
            </a:r>
            <a:endParaRPr lang="en-US" sz="1400" dirty="0"/>
          </a:p>
        </p:txBody>
      </p:sp>
      <p:sp>
        <p:nvSpPr>
          <p:cNvPr id="16" name="value chart card"/>
          <p:cNvSpPr/>
          <p:nvPr/>
        </p:nvSpPr>
        <p:spPr>
          <a:xfrm>
            <a:off x="5577840" y="1645920"/>
            <a:ext cx="6062472" cy="388620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1828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Точки PassMark за 1 долар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по цена при излизане на пазара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332720" y="1874520"/>
            <a:ext cx="10515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332720" y="18745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×2,6</a:t>
            </a:r>
            <a:endParaRPr lang="en-US" sz="1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760720" y="2560320"/>
          <a:ext cx="5715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Цените са препоръчителните (MSRP). През 2017–2018 г. търсенето от копачи на криптовалути вдигна реалните цени на Vega осезаемо над тях.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КРИТЕРИЙ 8 / 8  ·  ПОДДРЪЖКА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През 2026 г. и двете са в края на поддръжката</a:t>
            </a:r>
            <a:endParaRPr lang="en-US" sz="3200" dirty="0"/>
          </a:p>
        </p:txBody>
      </p:sp>
      <p:sp>
        <p:nvSpPr>
          <p:cNvPr id="4" name="timeline axis"/>
          <p:cNvSpPr/>
          <p:nvPr/>
        </p:nvSpPr>
        <p:spPr>
          <a:xfrm>
            <a:off x="822960" y="3456432"/>
            <a:ext cx="1051560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79478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59438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5996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5956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92514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2474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2016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9032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8992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2017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5550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85510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2018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62068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42028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2019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18586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98546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2020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75104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55064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2021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1622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1582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2022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88140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68100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658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24618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2024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01176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81136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2025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657694" y="3401568"/>
            <a:ext cx="0" cy="1097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37654" y="3547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02872" y="2286000"/>
            <a:ext cx="0" cy="117043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1020576" y="3374136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3144" y="16276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05.2013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GTX 780 излиза на пазара, 649 $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43305" y="3108960"/>
            <a:ext cx="0" cy="34747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1361009" y="3374136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333577" y="24505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10.2013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Цената пада до 499 $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74406" y="2286000"/>
            <a:ext cx="0" cy="117043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7292110" y="3374136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64678" y="162763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08.2021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Край на Game Ready драйверите за Kepler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35184" y="3108960"/>
            <a:ext cx="0" cy="34747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8252888" y="3374136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5456" y="24505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12.2022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CUDA 12.0 премахва Kepler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81786" y="2286000"/>
            <a:ext cx="0" cy="117043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9599490" y="3374136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572058" y="16276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09.2024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Край и на актуализациите за сигурност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18073" y="3822192"/>
            <a:ext cx="0" cy="20116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ysDot"/>
          </a:ln>
        </p:spPr>
      </p:sp>
      <p:sp>
        <p:nvSpPr>
          <p:cNvPr id="49" name="Shape 47"/>
          <p:cNvSpPr/>
          <p:nvPr/>
        </p:nvSpPr>
        <p:spPr>
          <a:xfrm>
            <a:off x="4235777" y="3374136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08345" y="40233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08.2017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RX Vega 56 излиза на пазара, 399 $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031180" y="3822192"/>
            <a:ext cx="0" cy="20116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ysDot"/>
          </a:ln>
        </p:spPr>
      </p:sp>
      <p:sp>
        <p:nvSpPr>
          <p:cNvPr id="52" name="Shape 50"/>
          <p:cNvSpPr/>
          <p:nvPr/>
        </p:nvSpPr>
        <p:spPr>
          <a:xfrm>
            <a:off x="8948884" y="3374136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92068" y="40233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11.2023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Vega минава на отделен клон драйвери, без нови оптимизации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952736" y="3822192"/>
            <a:ext cx="0" cy="1024128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ysDot"/>
          </a:ln>
        </p:spPr>
      </p:sp>
      <p:sp>
        <p:nvSpPr>
          <p:cNvPr id="55" name="Shape 53"/>
          <p:cNvSpPr/>
          <p:nvPr/>
        </p:nvSpPr>
        <p:spPr>
          <a:xfrm>
            <a:off x="10870440" y="3374136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913624" y="4846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05.2026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Adrenalin 26.5.2: Vega официално в legacy фаза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897148" y="30723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днес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5605272"/>
            <a:ext cx="539496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59" name="Shape 57"/>
          <p:cNvSpPr/>
          <p:nvPr/>
        </p:nvSpPr>
        <p:spPr>
          <a:xfrm>
            <a:off x="777240" y="5806440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051560" y="5605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GTX 780: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без драйверна поддръжка от септември 2024 г.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245352" y="5605272"/>
            <a:ext cx="539496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62" name="Shape 60"/>
          <p:cNvSpPr/>
          <p:nvPr/>
        </p:nvSpPr>
        <p:spPr>
          <a:xfrm>
            <a:off x="6473952" y="580644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748272" y="5605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RX Vega 56: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legacy клон, само поправки и сигурност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ОБОБЩЕНИЕ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Резултат: 8 на 1 за RX Vega 56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880360"/>
                <a:gridCol w="3063240"/>
                <a:gridCol w="185623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Критерий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GTX 780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Предимство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Технологичен процес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28 nm, 12,6 млн./mm²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14 nm FinFET, 25,7 млн./mm²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Изчислителна мощ (FP32)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4,15 TFLOPS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10,54 TFLOPS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Използване на теоретичната мощ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1922 точки/TFLOPS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1225 точки/TFLOPS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GTX 780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Видеопамет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3 GB GDDR5, 288 GB/s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8 GB HBM2, 410 GB/s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Енергийна ефективност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16,6 GFLOPS/W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50,2 GFLOPS/W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Поддръжка на API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DirectX 12 ниво 11_0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DirectX 12 ниво 12_1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Резултати в тестове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7972 / 2595 точки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12 913 / 6344 точки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Цена при излизане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649 $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399 $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Поддръжка през 2026 г.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няма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legacy, с поправки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RX Vega 56</a:t>
                      </a:r>
                      <a:endParaRPr lang="en-US" sz="1400" dirty="0"/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Единственото предимство на GTX 780 е по-ефективното използване на теоретичната мощ в по-старите API, особено DirectX 11.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ЗАКЛЮЧЕНИЕ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Изводи</a:t>
            </a:r>
            <a:endParaRPr lang="en-US" sz="3200" dirty="0"/>
          </a:p>
        </p:txBody>
      </p:sp>
      <p:sp>
        <p:nvSpPr>
          <p:cNvPr id="4" name="conclusion 1"/>
          <p:cNvSpPr/>
          <p:nvPr/>
        </p:nvSpPr>
        <p:spPr>
          <a:xfrm>
            <a:off x="548640" y="1645920"/>
            <a:ext cx="539496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 LuMicrochi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04496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120640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20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Технологията решава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Преходът от 28 nm към 14 nm FinFET дава двойно по-плътен чип и три пъти повече изчисления на ват.</a:t>
            </a:r>
            <a:endParaRPr lang="en-US" sz="1400" dirty="0"/>
          </a:p>
        </p:txBody>
      </p:sp>
      <p:sp>
        <p:nvSpPr>
          <p:cNvPr id="10" name="conclusion 2"/>
          <p:cNvSpPr/>
          <p:nvPr/>
        </p:nvSpPr>
        <p:spPr>
          <a:xfrm>
            <a:off x="6245352" y="1645920"/>
            <a:ext cx="539496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icon LuScale"/>
          <p:cNvSpPr/>
          <p:nvPr/>
        </p:nvSpPr>
        <p:spPr>
          <a:xfrm>
            <a:off x="6519672" y="19202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396" y="2044964"/>
            <a:ext cx="317480" cy="31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817352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296912" y="1920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Теорията не е практика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19672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На хартия разликата е 2,5 пъти, в тестовете от 1,6 до 2,4 пъти. Решаващо е какво API ползва приложението.</a:t>
            </a:r>
            <a:endParaRPr lang="en-US" sz="1400" dirty="0"/>
          </a:p>
        </p:txBody>
      </p:sp>
      <p:sp>
        <p:nvSpPr>
          <p:cNvPr id="16" name="conclusion 3"/>
          <p:cNvSpPr/>
          <p:nvPr/>
        </p:nvSpPr>
        <p:spPr>
          <a:xfrm>
            <a:off x="548640" y="3611880"/>
            <a:ext cx="539496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icon LuMemoryStick"/>
          <p:cNvSpPr/>
          <p:nvPr/>
        </p:nvSpPr>
        <p:spPr>
          <a:xfrm>
            <a:off x="822960" y="38862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4010924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2064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600200" y="38862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Паметта остарява първа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4572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 GB са основното ограничение на GTX 780 днес. HBM2 и 8 GB удължават живота на Vega 56.</a:t>
            </a:r>
            <a:endParaRPr lang="en-US" sz="1400" dirty="0"/>
          </a:p>
        </p:txBody>
      </p:sp>
      <p:sp>
        <p:nvSpPr>
          <p:cNvPr id="22" name="conclusion 4"/>
          <p:cNvSpPr/>
          <p:nvPr/>
        </p:nvSpPr>
        <p:spPr>
          <a:xfrm>
            <a:off x="6245352" y="3611880"/>
            <a:ext cx="539496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icon LuHourglass"/>
          <p:cNvSpPr/>
          <p:nvPr/>
        </p:nvSpPr>
        <p:spPr>
          <a:xfrm>
            <a:off x="6519672" y="38862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396" y="4010924"/>
            <a:ext cx="317480" cy="317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817352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296912" y="38862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Днес и двете са история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519672" y="4572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GTX 780 е без поддръжка, Vega 56 е в legacy режим. За нова система не се препоръчва нито една.</a:t>
            </a:r>
            <a:endParaRPr lang="en-US" sz="1400" dirty="0"/>
          </a:p>
        </p:txBody>
      </p:sp>
      <p:sp>
        <p:nvSpPr>
          <p:cNvPr id="28" name="verdict"/>
          <p:cNvSpPr/>
          <p:nvPr/>
        </p:nvSpPr>
        <p:spPr>
          <a:xfrm>
            <a:off x="548640" y="5577840"/>
            <a:ext cx="11091672" cy="621792"/>
          </a:xfrm>
          <a:prstGeom prst="roundRect">
            <a:avLst>
              <a:gd name="adj" fmla="val 14706"/>
            </a:avLst>
          </a:prstGeom>
          <a:solidFill>
            <a:schemeClr val="accent2">
              <a:alpha val="18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22960" y="55778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Общ победител: Radeon RX Vega 56.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По-нова технология, по-ниска цена и по-бърза във всеки тест.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s card"/>
          <p:cNvSpPr/>
          <p:nvPr/>
        </p:nvSpPr>
        <p:spPr>
          <a:xfrm>
            <a:off x="548640" y="548640"/>
            <a:ext cx="7086600" cy="5760720"/>
          </a:xfrm>
          <a:prstGeom prst="roundRect">
            <a:avLst>
              <a:gd name="adj" fmla="val 1587"/>
            </a:avLst>
          </a:prstGeom>
          <a:solidFill>
            <a:schemeClr val="tx1">
              <a:alpha val="8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ИЗПОЛЗВАНИ ИЗТОЧНИЦИ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68122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TechPowerUp GPU Database: GeForce GTX 780; Radeon RX Vega 56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2.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Wikipedia: GeForce 700 series; Radeon RX Vega series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3.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PassMark: GeForce GTX 780 vs Radeon RX Vega 56 (към 20.10.2026 г.)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4.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ComputerBase: 3DMark Time Spy – Bestenliste (2024, обн. 2025)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5.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Guru3D: AMD Radeon RX Vega 56 review – архитектура (2017)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6.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AnandTech: NVIDIA GeForce GTX 780/770 Price Cuts (10.2013)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7.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The FPS Review: NVIDIA End of Support for Kepler GPUs (06.2021)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8.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NVIDIA: CUDA Toolkit 12.0 Release Notes (12.2022)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9.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AnandTech: AMD Reduces Driver Support for Polaris and Vega (11.2023)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10.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Guru3D: AMD Radeon Adrenalin 26.5.2 for Polaris and Vega (05.2026)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11.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AMD: ROCm System requirements (Linux)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12.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Снимки: Fritzchens Fritz (CC0), GBPublic_PR (CC BY 2.0), Wikimedia Commons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715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Пълните адреси са в обяснителната записка.</a:t>
            </a:r>
            <a:endParaRPr lang="en-US" sz="1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001000" y="21031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Благодаря за вниманието!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Въпроси?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5715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Константин Христианов Ганев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ФН 243020  ·  група 25Р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PU Versus">
  <a:themeElements>
    <a:clrScheme name="GPU Versus">
      <a:dk1>
        <a:srgbClr val="0E1117"/>
      </a:dk1>
      <a:lt1>
        <a:srgbClr val="F2F4F8"/>
      </a:lt1>
      <a:dk2>
        <a:srgbClr val="171B24"/>
      </a:dk2>
      <a:lt2>
        <a:srgbClr val="98A2B3"/>
      </a:lt2>
      <a:accent1>
        <a:srgbClr val="76B900"/>
      </a:accent1>
      <a:accent2>
        <a:srgbClr val="E8202A"/>
      </a:accent2>
      <a:accent3>
        <a:srgbClr val="232936"/>
      </a:accent3>
      <a:accent4>
        <a:srgbClr val="6B7486"/>
      </a:accent4>
      <a:accent5>
        <a:srgbClr val="6CAA00"/>
      </a:accent5>
      <a:accent6>
        <a:srgbClr val="2A3140"/>
      </a:accent6>
      <a:hlink>
        <a:srgbClr val="8AB4F8"/>
      </a:hlink>
      <a:folHlink>
        <a:srgbClr val="B39DDB"/>
      </a:folHlink>
    </a:clrScheme>
    <a:fontScheme name="GPU Versu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Русенски университет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GeForce GTX 780 срещу Radeon RX Vega 56</dc:title>
  <dc:subject>Реферат по Системно програмиране</dc:subject>
  <dc:creator>Константин Христианов Ганев</dc:creator>
  <cp:lastModifiedBy>Константин Христианов Ганев</cp:lastModifiedBy>
  <cp:revision>1</cp:revision>
  <dcterms:created xsi:type="dcterms:W3CDTF">2026-10-20T07:47:31Z</dcterms:created>
  <dcterms:modified xsi:type="dcterms:W3CDTF">2026-10-20T07:47:31Z</dcterms:modified>
</cp:coreProperties>
</file>